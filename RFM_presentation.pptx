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0" y="45720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Customer Segmentation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Dunnhumby — The Complete Journey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Households  ·  711 Days  ·  2.6M Transactions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2651760" cy="109728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971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35478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Champions' revenue share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2926080"/>
            <a:ext cx="2651760" cy="109728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2971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280" y="35478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2926080"/>
            <a:ext cx="2651760" cy="109728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2971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$8.06M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35478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2-year revenue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Power BI  ·  DAX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grocer treating 2,500 households identically — same campaigns, same coupons, no differentiation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41248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64008" cy="1005840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4904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most valuable customers?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do we make sure we never lose them?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60320"/>
            <a:ext cx="64008" cy="10058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06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6334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quietly drifting away?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063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 of households show measurable churn signals.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841248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64008" cy="10058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49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7764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wasting promotion spend?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206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campaigns reaching customers who'd buy anyway?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356616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transaction_data.csv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2.6M rows — core purchase data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89280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hh_demographic.csv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0756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 rows — 32% household coverage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368296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36829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campaign_table.csv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5511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7,208 rows — campaign targeting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8437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8437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campaign_desc.csv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02666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rows — campaign windows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31927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3192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coupon_redempt.csv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5021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2,318 rows — redemption events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794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7947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product.csv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97764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92K rows — product hierarchy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868680"/>
            <a:ext cx="4297680" cy="356616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Scoring — Quintile Binning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463040"/>
            <a:ext cx="502920" cy="640080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4630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49240" y="14813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171907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 = shopped recently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 = 658 days absent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day = 712, labels inverted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2468880"/>
            <a:ext cx="502920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4688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49240" y="24871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272491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shopping trips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 = 1,300 trips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 = 1 trip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rank(method='first') for ties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3474720"/>
            <a:ext cx="502920" cy="640080"/>
          </a:xfrm>
          <a:prstGeom prst="rect">
            <a:avLst/>
          </a:prstGeom>
          <a:solidFill>
            <a:srgbClr val="52C78A"/>
          </a:solidFill>
          <a:ln w="12700">
            <a:solidFill>
              <a:srgbClr val="52C7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4747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349240" y="34930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9240" y="37307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over 2 years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 = $38,319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 = $8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$0 promo items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Score = R + F + M  ·  Range: 3 (worst) → 15 (best)  ·  pd.qcut() quintile binning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Customer Segments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classification using np.select() — 0 uncategorised households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solidFill>
            <a:srgbClr val="252525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16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46120" y="1216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17720" y="1216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RFM Score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06440" y="1216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12280" y="1216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8412480" cy="402336"/>
          </a:xfrm>
          <a:prstGeom prst="rect">
            <a:avLst/>
          </a:prstGeom>
          <a:solidFill>
            <a:srgbClr val="242424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36192"/>
            <a:ext cx="45720" cy="402336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00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600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1600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06440" y="1600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1228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R≥4, F≥4, M≥4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1965960"/>
            <a:ext cx="8412480" cy="402336"/>
          </a:xfrm>
          <a:prstGeom prst="rect">
            <a:avLst/>
          </a:prstGeom>
          <a:solidFill>
            <a:srgbClr val="1E1E1E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965960"/>
            <a:ext cx="45720" cy="402336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0299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20299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20299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06440" y="20299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12280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F≥4, R≥3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395728"/>
            <a:ext cx="8412480" cy="402336"/>
          </a:xfrm>
          <a:prstGeom prst="rect">
            <a:avLst/>
          </a:prstGeom>
          <a:solidFill>
            <a:srgbClr val="242424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395728"/>
            <a:ext cx="45720" cy="4023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4597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46120" y="24597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24597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06440" y="245973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12280" y="2459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R∈[2,3], F≥2, M≥2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2825496"/>
            <a:ext cx="8412480" cy="402336"/>
          </a:xfrm>
          <a:prstGeom prst="rect">
            <a:avLst/>
          </a:prstGeom>
          <a:solidFill>
            <a:srgbClr val="1E1E1E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825496"/>
            <a:ext cx="45720" cy="402336"/>
          </a:xfrm>
          <a:prstGeom prst="rect">
            <a:avLst/>
          </a:prstGeom>
          <a:solidFill>
            <a:srgbClr val="52C78A"/>
          </a:solidFill>
          <a:ln w="12700">
            <a:solidFill>
              <a:srgbClr val="52C7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8895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Loyalists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46120" y="28895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7720" y="28895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06440" y="288950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12280" y="28895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R≥4, F∈[2,3]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255264"/>
            <a:ext cx="8412480" cy="402336"/>
          </a:xfrm>
          <a:prstGeom prst="rect">
            <a:avLst/>
          </a:prstGeom>
          <a:solidFill>
            <a:srgbClr val="242424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255264"/>
            <a:ext cx="45720" cy="40233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319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46120" y="33192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17720" y="3319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06440" y="33192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12280" y="3319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3685032"/>
            <a:ext cx="8412480" cy="402336"/>
          </a:xfrm>
          <a:prstGeom prst="rect">
            <a:avLst/>
          </a:prstGeom>
          <a:solidFill>
            <a:srgbClr val="1E1E1E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685032"/>
            <a:ext cx="45720" cy="402336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749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Buyers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4612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617720" y="3749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06440" y="3749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1228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R∈[2-4], F=1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65760" y="4114800"/>
            <a:ext cx="8412480" cy="402336"/>
          </a:xfrm>
          <a:prstGeom prst="rect">
            <a:avLst/>
          </a:prstGeom>
          <a:solidFill>
            <a:srgbClr val="242424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4114800"/>
            <a:ext cx="45720" cy="402336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178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246120" y="4178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617720" y="41788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06440" y="41788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812280" y="4178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R∈[2,3], F≥2, M=1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5760" y="4544568"/>
            <a:ext cx="8412480" cy="402336"/>
          </a:xfrm>
          <a:prstGeom prst="rect">
            <a:avLst/>
          </a:prstGeom>
          <a:solidFill>
            <a:srgbClr val="1E1E1E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4544568"/>
            <a:ext cx="45720" cy="402336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6085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246120" y="46085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17720" y="46085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7.33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806440" y="460857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812280" y="46085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R=5, F=1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dominate revenue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256032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from Champions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just 20.4% of households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023360" cy="256032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Segment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1773936"/>
            <a:ext cx="1536009" cy="201168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91089" y="173736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20665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622524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7604" y="206654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23957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2432304"/>
            <a:ext cx="575158" cy="20116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0238" y="239572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7249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9360" y="2761488"/>
            <a:ext cx="274046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126" y="2724912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30540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Pot.Loyal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3090672"/>
            <a:ext cx="287579" cy="201168"/>
          </a:xfrm>
          <a:prstGeom prst="rect">
            <a:avLst/>
          </a:prstGeom>
          <a:solidFill>
            <a:srgbClr val="52C78A"/>
          </a:solidFill>
          <a:ln w="12700">
            <a:solidFill>
              <a:srgbClr val="52C7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2659" y="3054096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3383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09360" y="3419856"/>
            <a:ext cx="87965" cy="201168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3045" y="338328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252525"/>
          </a:solidFill>
          <a:ln w="1016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40050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Champions visit every 2.1 days on average — 246 trips over 2 years at $29.22/trip. Frequency is their superpower, not basket size. One-time Buyers spend $36.56/trip but made that trip exactly once.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 of households show churn signals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1508760"/>
          </a:xfrm>
          <a:prstGeom prst="rect">
            <a:avLst/>
          </a:prstGeom>
          <a:solidFill>
            <a:srgbClr val="2A2A2A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565 households  ·  18.4% of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08483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active but visit frequency declining. Highest recovery ROI.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0" y="13898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Recency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26480" y="15910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 days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9385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R/F/M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126480" y="21396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2.39 / 2.88 / 3.09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8412480" cy="1508760"/>
          </a:xfrm>
          <a:prstGeom prst="rect">
            <a:avLst/>
          </a:prstGeom>
          <a:solidFill>
            <a:srgbClr val="2A2A2A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0815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households  ·  8.1% of revenue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77647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days since last visit. Brand preference unchanged — left for experiential reasons.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0" y="30815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Recency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26480" y="32826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104.2 days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6301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R/F/M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26480" y="38313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/ 1.83 / 1.90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252525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451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+ Lost = 42.6% of households  ·  At Risk: 18.4% of revenue  ·  Lost: 8.1% of revenue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916 households never received a single campaign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Targeting Rate by Segment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572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40280" y="1627632"/>
            <a:ext cx="2141857" cy="219456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46145" y="15727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40280" y="2048256"/>
            <a:ext cx="2072695" cy="219456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6983" y="199339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4140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40280" y="2468880"/>
            <a:ext cx="2064050" cy="21945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8338" y="241401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95.5%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40280" y="2889504"/>
            <a:ext cx="1873855" cy="21945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78143" y="28346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2552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Loyalists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40280" y="3310128"/>
            <a:ext cx="1975437" cy="219456"/>
          </a:xfrm>
          <a:prstGeom prst="rect">
            <a:avLst/>
          </a:prstGeom>
          <a:solidFill>
            <a:srgbClr val="52C78A"/>
          </a:solidFill>
          <a:ln w="12700">
            <a:solidFill>
              <a:srgbClr val="52C7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725" y="325526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6758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Buyers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40280" y="3730752"/>
            <a:ext cx="1441593" cy="219456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5881" y="367588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0965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40280" y="4151376"/>
            <a:ext cx="0" cy="219456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04288" y="409651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74920" y="1188720"/>
            <a:ext cx="3703320" cy="3246120"/>
          </a:xfrm>
          <a:prstGeom prst="rect">
            <a:avLst/>
          </a:prstGeom>
          <a:solidFill>
            <a:srgbClr val="252525"/>
          </a:solidFill>
          <a:ln w="1016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57800" y="12984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Response Rate Caveat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1691640"/>
            <a:ext cx="33375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campaign response = 97.9%
</a:t>
            </a:r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evidence of effectiveness.
</a:t>
            </a:r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visit every 2.1 days on average (Page 2 card). The average campaign window is 47 days. Champions shop continuously regardless of whether they received a campaign.
</a:t>
            </a:r>
            <a:pPr indent="0" marL="0">
              <a:buNone/>
            </a:pPr>
            <a:r>
              <a:rPr lang="en-US" sz="95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 measures shopping frequency — not campaign lift.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252525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451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TypeB campaigns (63% of all) reach only 40.9% of households  ·  TypeC reaches just 15.9%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 reward loyalty that already exists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219456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60.1%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coupon redemptions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absorbed by Champions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just 20.4% of households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234440"/>
            <a:ext cx="4389120" cy="329184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325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Redemption Rate by Segment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1721998" cy="201168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13070" y="17373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17720" y="21396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2185416"/>
            <a:ext cx="1122517" cy="20116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13589" y="213969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25420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2587752"/>
            <a:ext cx="442570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3642" y="254203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29443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Pot.Loyalists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2990088"/>
            <a:ext cx="446593" cy="201168"/>
          </a:xfrm>
          <a:prstGeom prst="rect">
            <a:avLst/>
          </a:prstGeom>
          <a:solidFill>
            <a:srgbClr val="52C78A"/>
          </a:solidFill>
          <a:ln w="12700">
            <a:solidFill>
              <a:srgbClr val="52C7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7665" y="29443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17720" y="33467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3392424"/>
            <a:ext cx="217261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08333" y="334670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1772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Buyers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3794760"/>
            <a:ext cx="20117" cy="201168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1189" y="37490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17720" y="41513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4197096"/>
            <a:ext cx="0" cy="201168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415137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22008" y="1691640"/>
            <a:ext cx="0" cy="2651760"/>
          </a:xfrm>
          <a:prstGeom prst="line">
            <a:avLst/>
          </a:prstGeom>
          <a:noFill/>
          <a:ln w="12700">
            <a:solidFill>
              <a:srgbClr val="F39C12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812280" y="4206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17.4%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252525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5262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coupon to a Lost customer → 1 in 20 will use it.  Send one to a Champion → they'd buy anyway.  Coupons are changing zero behaviour.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analysis acknowledges what the data cannot tell 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97280"/>
          </a:xfrm>
          <a:prstGeom prst="rect">
            <a:avLst/>
          </a:prstGeom>
          <a:solidFill>
            <a:srgbClr val="2A2A2A"/>
          </a:solidFill>
          <a:ln w="1016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61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Demographic coverage — 32% only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801 of 2,500 households have demographic data. Income band and family size findings are indicative — not universal. Any marketing decision needs validation against a fuller source.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4114800" cy="1097280"/>
          </a:xfrm>
          <a:prstGeom prst="rect">
            <a:avLst/>
          </a:prstGeom>
          <a:solidFill>
            <a:srgbClr val="2A2A2A"/>
          </a:solidFill>
          <a:ln w="10160">
            <a:solidFill>
              <a:srgbClr val="4A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4963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Assumed calendar dates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8072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uses integer day numbers (1–711). I assumed Day 1 = January 1st 2017. If incorrect, calendar labels shift — but all RFM calculations are unaffected.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4114800" cy="1097280"/>
          </a:xfrm>
          <a:prstGeom prst="rect">
            <a:avLst/>
          </a:prstGeom>
          <a:solidFill>
            <a:srgbClr val="2A2A2A"/>
          </a:solidFill>
          <a:ln w="10160">
            <a:solidFill>
              <a:srgbClr val="4A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730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Static segmentation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404164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scores reflect the full 2-year window. A customer active in Year 1 who churned in Year 2 may be scored differently than their recent behaviour suggests. Rolling RFM would be more accurate.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4114800" cy="1097280"/>
          </a:xfrm>
          <a:prstGeom prst="rect">
            <a:avLst/>
          </a:prstGeom>
          <a:solidFill>
            <a:srgbClr val="2A2A2A"/>
          </a:solidFill>
          <a:ln w="1016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1261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Frequency outlier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83480" y="15727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household made 1,300 trips over 711 days — 1.8 trips/day. Likely a commercial account or data artefact. Retained in analysis but flagged.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423160"/>
            <a:ext cx="4114800" cy="1097280"/>
          </a:xfrm>
          <a:prstGeom prst="rect">
            <a:avLst/>
          </a:prstGeom>
          <a:solidFill>
            <a:srgbClr val="2A2A2A"/>
          </a:solidFill>
          <a:ln w="1016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24963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No campaign control group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8072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targeted household received a campaign. Without a control group we cannot measure what would have happened without it. Response rates cannot be interpreted as causal lift.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Actionable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60520" cy="1783080"/>
          </a:xfrm>
          <a:prstGeom prst="rect">
            <a:avLst/>
          </a:prstGeom>
          <a:solidFill>
            <a:srgbClr val="2A2A2A"/>
          </a:solidFill>
          <a:ln w="10160">
            <a:solidFill>
              <a:srgbClr val="4A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54864" cy="1783080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47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Champion campaign spend by 30–40%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562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visit every 2.1 days (Page 2 card) and buy without incentives. Redirect budget to loyalty recognition — early access, personalised rewards. Higher emotional ROI at lower cost.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99.1% of Champions already targeted — room to reallocate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160520" cy="1783080"/>
          </a:xfrm>
          <a:prstGeom prst="rect">
            <a:avLst/>
          </a:prstGeom>
          <a:solidFill>
            <a:srgbClr val="2A2A2A"/>
          </a:solidFill>
          <a:ln w="1016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51560"/>
            <a:ext cx="54864" cy="1783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1247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Urgently close the At Risk targeting gap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8562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565 households, 18.4% revenue, 13.25% never received a campaign (Page 3 dashboard). Still active, still spending — highest recovery ROI. Personalise around their top department from Page 2 treemap.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2560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 Risk is the largest segment — 565 households drifting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160520" cy="1783080"/>
          </a:xfrm>
          <a:prstGeom prst="rect">
            <a:avLst/>
          </a:prstGeom>
          <a:solidFill>
            <a:srgbClr val="2A2A2A"/>
          </a:solidFill>
          <a:ln w="10160">
            <a:solidFill>
              <a:srgbClr val="52C7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17520"/>
            <a:ext cx="54864" cy="1783080"/>
          </a:xfrm>
          <a:prstGeom prst="rect">
            <a:avLst/>
          </a:prstGeom>
          <a:solidFill>
            <a:srgbClr val="52C78A"/>
          </a:solidFill>
          <a:ln w="12700">
            <a:solidFill>
              <a:srgbClr val="52C7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906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coupon strategy around Potential Loyalists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8221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absorb 60.1% of coupon value (Page 3) but buy anyway. Redirect to Potential Loyalists (306 households, recency 2.4 days from Page 2). The right nudge converts occasional to regular.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Build loyalty that doesn't yet exist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00600" y="3017520"/>
            <a:ext cx="4160520" cy="1783080"/>
          </a:xfrm>
          <a:prstGeom prst="rect">
            <a:avLst/>
          </a:prstGeom>
          <a:solidFill>
            <a:srgbClr val="2A2A2A"/>
          </a:solidFill>
          <a:ln w="10160">
            <a:solidFill>
              <a:srgbClr val="7B6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017520"/>
            <a:ext cx="54864" cy="178308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0906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83480" y="3429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TypeC and TypeA reach, reduce TypeB concentration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8221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TypeB (63% of campaigns) has only 40.9% household coverage. TypeC reaches just 15.9% of households. Both verified from Page 3 campaign type filter. Expand reach to 916 never-targeted households.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4526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Broader funnel without increasing total spend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tells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story.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Over-investing in customers who are already loyal.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Under-investing in customers who are at risk or underdeveloped.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651760"/>
            <a:ext cx="2011680" cy="128016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697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Champions' revenue share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2651760"/>
            <a:ext cx="2011680" cy="128016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2697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showing churn signals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2651760"/>
            <a:ext cx="2011680" cy="128016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697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never targeted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2651760"/>
            <a:ext cx="2011680" cy="128016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2697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60.1%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4944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value to Champions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RFM framework provides the intelligence to change that allocation.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Power BI  ·  Dunnhumby Complete Journey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RFM Customer Segmentation — Dunnhumby</dc:title>
  <dc:subject>PptxGenJS Presentation</dc:subject>
  <dc:creator>PptxGenJS</dc:creator>
  <cp:lastModifiedBy>PptxGenJS</cp:lastModifiedBy>
  <cp:revision>1</cp:revision>
  <dcterms:created xsi:type="dcterms:W3CDTF">2026-05-15T11:59:47Z</dcterms:created>
  <dcterms:modified xsi:type="dcterms:W3CDTF">2026-05-15T11:59:47Z</dcterms:modified>
</cp:coreProperties>
</file>